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Hriday means heart. We built a working digital twin for hypertension on top of MyZenn, our live mental-wellness platform.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WHO Global Report on Hypertension 2023, India profile.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Ground truth comes from a hidden ambulatory BP signal the model never sees. The model only gets what a real clinic would 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At the 55% high tier: sensitivity 0.48, specificity 0.97, PPV 0.72, about 0.6 alert-days per patient-week. 96% of caught surges were flagged at least 6 hours ahead.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48640"/>
            <a:ext cx="685800" cy="685800"/>
          </a:xfrm>
          <a:prstGeom prst="roundRect">
            <a:avLst>
              <a:gd name="adj" fmla="val 8000"/>
            </a:avLst>
          </a:prstGeom>
          <a:solidFill>
            <a:srgbClr val="153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685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>
                <a:solidFill>
                  <a:srgbClr val="15304B"/>
                </a:solidFill>
                <a:latin typeface="Segoe UI"/>
              </a:rPr>
              <a:t>HridayTwin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971800"/>
            <a:ext cx="9601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3A5068"/>
                </a:solidFill>
                <a:latin typeface="Segoe UI"/>
              </a:rPr>
              <a:t>A stress-aware digital twin that predicts hypertensive surges a day ahead, and shows the doctor how to prevent them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75488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B7C8F"/>
                </a:solidFill>
                <a:latin typeface="Segoe UI"/>
              </a:rPr>
              <a:t>Team [Team name]  |  [College / incubator]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6B7C8F"/>
                </a:solidFill>
                <a:latin typeface="Segoe UI"/>
              </a:rPr>
              <a:t>Built on MyZenn (myzenn.com)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6B7C8F"/>
                </a:solidFill>
                <a:latin typeface="Segoe UI"/>
              </a:rPr>
              <a:t>Happiest Health Digital Twin Challenge 2026, hypertension track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5304B"/>
                </a:solidFill>
                <a:latin typeface="Segoe UI"/>
              </a:rPr>
              <a:t>India's hypertension problem happens between clinic visits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C8F"/>
                </a:solidFill>
                <a:latin typeface="Segoe UI"/>
              </a:rPr>
              <a:t>Blood pressure is checked every few months. Dangerous surges happen on ordinary days in between.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011680"/>
            <a:ext cx="356616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121408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5304B"/>
                </a:solidFill>
                <a:latin typeface="Segoe UI"/>
              </a:rPr>
              <a:t>188 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61488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6B7C8F"/>
                </a:solidFill>
                <a:latin typeface="Segoe UI"/>
              </a:rPr>
              <a:t>Indian adults aged 30–79 living with hypertension (WHO, 2023)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2011680"/>
            <a:ext cx="356616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2121408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C8412F"/>
                </a:solidFill>
                <a:latin typeface="Segoe UI"/>
              </a:rPr>
              <a:t>~15%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2761488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6B7C8F"/>
                </a:solidFill>
                <a:latin typeface="Segoe UI"/>
              </a:rPr>
              <a:t>have it under control (WHO, 2023)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2011680"/>
            <a:ext cx="352044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2121408"/>
            <a:ext cx="3154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5304B"/>
                </a:solidFill>
                <a:latin typeface="Segoe UI"/>
              </a:rPr>
              <a:t>#1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761488"/>
            <a:ext cx="3154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6B7C8F"/>
                </a:solidFill>
                <a:latin typeface="Segoe UI"/>
              </a:rPr>
              <a:t>modifiable risk factor for stroke and heart attack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749039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3A5068"/>
                </a:solidFill>
                <a:latin typeface="Segoe UI"/>
              </a:rPr>
              <a:t>•  Clinic readings are snapshots; home cuffs are used irregularly and read in isolation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3A5068"/>
                </a:solidFill>
                <a:latin typeface="Segoe UI"/>
              </a:rPr>
              <a:t>•  Surges are driven by everyday triggers: stress, poor sleep, missed doses, salty meals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3A5068"/>
                </a:solidFill>
                <a:latin typeface="Segoe UI"/>
              </a:rPr>
              <a:t>•  Doctors see what happened last quarter, not what will happen tomorrow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3A5068"/>
                </a:solidFill>
                <a:latin typeface="Segoe UI"/>
              </a:rPr>
              <a:t>•  Care is reactive: the first signal is often an ER visit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5304B"/>
                </a:solidFill>
                <a:latin typeface="Segoe UI"/>
              </a:rPr>
              <a:t>The insight: surges announce themselves in mind and body first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C8F"/>
                </a:solidFill>
                <a:latin typeface="Segoe UI"/>
              </a:rPr>
              <a:t>Wearables and a mental-wellness app see the triggers hours before the cuff sees the pressure.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011680"/>
            <a:ext cx="265176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1488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009E9A"/>
                </a:solidFill>
                <a:latin typeface="Segoe UI"/>
              </a:rPr>
              <a:t>Stress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2331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3A5068"/>
                </a:solidFill>
                <a:latin typeface="Segoe UI"/>
              </a:rPr>
              <a:t>HRV falls and resting HR rises as stress builds over 1–2 days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2011680"/>
            <a:ext cx="265176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21488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009E9A"/>
                </a:solidFill>
                <a:latin typeface="Segoe UI"/>
              </a:rPr>
              <a:t>Sleep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743200"/>
            <a:ext cx="2331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3A5068"/>
                </a:solidFill>
                <a:latin typeface="Segoe UI"/>
              </a:rPr>
              <a:t>Short, broken nights accumulate sleep debt that raises next-day BP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011680"/>
            <a:ext cx="265176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1488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009E9A"/>
                </a:solidFill>
                <a:latin typeface="Segoe UI"/>
              </a:rPr>
              <a:t>Adherence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743200"/>
            <a:ext cx="2331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3A5068"/>
                </a:solidFill>
                <a:latin typeface="Segoe UI"/>
              </a:rPr>
              <a:t>A missed-dose streak lets the drug level fall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52560" y="2011680"/>
            <a:ext cx="265176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40" y="21488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009E9A"/>
                </a:solidFill>
                <a:latin typeface="Segoe UI"/>
              </a:rPr>
              <a:t>Salt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2743200"/>
            <a:ext cx="2331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3A5068"/>
                </a:solidFill>
                <a:latin typeface="Segoe UI"/>
              </a:rPr>
              <a:t>Festival and restaurant meals load sodium for 24–36 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572000"/>
            <a:ext cx="11064240" cy="1554480"/>
          </a:xfrm>
          <a:prstGeom prst="roundRect">
            <a:avLst>
              <a:gd name="adj" fmla="val 8000"/>
            </a:avLst>
          </a:prstGeom>
          <a:solidFill>
            <a:srgbClr val="DF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754880"/>
            <a:ext cx="10607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5304B"/>
                </a:solidFill>
                <a:latin typeface="Segoe UI"/>
              </a:rPr>
              <a:t>MyZenn already measures the mind layer: mood check-ins, stress, HRV over Bluetooth, and guided breathing,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5304B"/>
                </a:solidFill>
                <a:latin typeface="Segoe UI"/>
              </a:rPr>
              <a:t>meditation and yoga tools that lower sympathetic tone. HridayTwin connects that layer to the cardiologist.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5304B"/>
                </a:solidFill>
                <a:latin typeface="Segoe UI"/>
              </a:rPr>
              <a:t>HridayTwin: a virtual copy of each patient's blood pressure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C8F"/>
                </a:solidFill>
                <a:latin typeface="Segoe UI"/>
              </a:rPr>
              <a:t>Four things a doctor can do with it, all working in the prototype.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011680"/>
            <a:ext cx="265176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15304B"/>
                </a:solidFill>
                <a:latin typeface="Segoe UI"/>
              </a:rPr>
              <a:t>Predict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80360"/>
            <a:ext cx="2331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3A5068"/>
                </a:solidFill>
                <a:latin typeface="Segoe UI"/>
              </a:rPr>
              <a:t>Probability of a sustained surge (≥160/100) in the next 24 h, updated every 6 h. AUROC 0.92.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2011680"/>
            <a:ext cx="265176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21945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15304B"/>
                </a:solidFill>
                <a:latin typeface="Segoe UI"/>
              </a:rPr>
              <a:t>Explain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880360"/>
            <a:ext cx="2331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3A5068"/>
                </a:solidFill>
                <a:latin typeface="Segoe UI"/>
              </a:rPr>
              <a:t>Which drivers push this patient's risk up today, plus their personal sensitivities in mmHg.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011680"/>
            <a:ext cx="265176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09E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1945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15304B"/>
                </a:solidFill>
                <a:latin typeface="Segoe UI"/>
              </a:rPr>
              <a:t>Simulate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880360"/>
            <a:ext cx="2331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3A5068"/>
                </a:solidFill>
                <a:latin typeface="Segoe UI"/>
              </a:rPr>
              <a:t>What-if sliders: more sleep, MyBreath minutes, adherence, low salt. The twin re-runs live.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52560" y="2011680"/>
            <a:ext cx="265176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40" y="21945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15304B"/>
                </a:solidFill>
                <a:latin typeface="Segoe UI"/>
              </a:rPr>
              <a:t>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2880360"/>
            <a:ext cx="2331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3A5068"/>
                </a:solidFill>
                <a:latin typeface="Segoe UI"/>
              </a:rPr>
              <a:t>One-click care plans pushed to the patient's MyZenn app; MySafe escalation in crisis range.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760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B7C8F"/>
                </a:solidFill>
                <a:latin typeface="Segoe UI"/>
              </a:rPr>
              <a:t>Doctor sees the twin in a clinician console. The patient lives the plan in MyZenn.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5304B"/>
                </a:solidFill>
                <a:latin typeface="Segoe UI"/>
              </a:rPr>
              <a:t>Two data streams, fused. Synthetic by design.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C8F"/>
                </a:solidFill>
                <a:latin typeface="Segoe UI"/>
              </a:rPr>
              <a:t>No real patient data is used (DPDP Act and HIPAA). A causal simulator generates physiologically coherent patients.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920240"/>
            <a:ext cx="539496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0574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5304B"/>
                </a:solidFill>
                <a:latin typeface="Segoe UI"/>
              </a:rPr>
              <a:t>Static / historical EHR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6060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3A5068"/>
                </a:solidFill>
                <a:latin typeface="Segoe UI"/>
              </a:rPr>
              <a:t>•  Synthea-style tables: patients, conditions, observations, medications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3A5068"/>
                </a:solidFill>
                <a:latin typeface="Segoe UI"/>
              </a:rPr>
              <a:t>•  Diagnoses coded in SNOMED-CT; 3-point lab history in LOINC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3A5068"/>
                </a:solidFill>
                <a:latin typeface="Segoe UI"/>
              </a:rPr>
              <a:t>•  eGFR, HbA1c, lipids, UACR, Na/K, clinic BP, BMI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3A5068"/>
                </a:solidFill>
                <a:latin typeface="Segoe UI"/>
              </a:rPr>
              <a:t>•  Genetic markers: AGT M235T, ACE I/D, CYP11B2, GNB3, polygenic score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920240"/>
            <a:ext cx="539496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20574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5304B"/>
                </a:solidFill>
                <a:latin typeface="Segoe UI"/>
              </a:rPr>
              <a:t>Dynamic wearable + IoT (hourly)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6060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3A5068"/>
                </a:solidFill>
                <a:latin typeface="Segoe UI"/>
              </a:rPr>
              <a:t>•  Smartwatch: heart rate, HRV (RMSSD), steps, stress score, sleep stages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3A5068"/>
                </a:solidFill>
                <a:latin typeface="Segoe UI"/>
              </a:rPr>
              <a:t>•  Home BP cuff, morning and evening (often skipped, as in real life)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3A5068"/>
                </a:solidFill>
                <a:latin typeface="Segoe UI"/>
              </a:rPr>
              <a:t>•  Smart pillbox dose log; MyZenn food log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3A5068"/>
                </a:solidFill>
                <a:latin typeface="Segoe UI"/>
              </a:rPr>
              <a:t>•  MyZenn mood check-ins and breathing / meditation sessions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212080"/>
            <a:ext cx="265176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5321808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5304B"/>
                </a:solidFill>
                <a:latin typeface="Segoe UI"/>
              </a:rPr>
              <a:t>400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961888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6B7C8F"/>
                </a:solidFill>
                <a:latin typeface="Segoe UI"/>
              </a:rPr>
              <a:t>synthetic patients, 60 days each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5212080"/>
            <a:ext cx="265176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5321808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5304B"/>
                </a:solidFill>
                <a:latin typeface="Segoe UI"/>
              </a:rPr>
              <a:t>576k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5961888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6B7C8F"/>
                </a:solidFill>
                <a:latin typeface="Segoe UI"/>
              </a:rPr>
              <a:t>hourly wearable rows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5212080"/>
            <a:ext cx="265176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5321808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5304B"/>
                </a:solidFill>
                <a:latin typeface="Segoe UI"/>
              </a:rPr>
              <a:t>4,577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961888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6B7C8F"/>
                </a:solidFill>
                <a:latin typeface="Segoe UI"/>
              </a:rPr>
              <a:t>ground-truth surge events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52560" y="5212080"/>
            <a:ext cx="256032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0" y="5321808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5304B"/>
                </a:solidFill>
                <a:latin typeface="Segoe UI"/>
              </a:rPr>
              <a:t>71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5961888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6B7C8F"/>
                </a:solidFill>
                <a:latin typeface="Segoe UI"/>
              </a:rPr>
              <a:t>fused features per prediction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5304B"/>
                </a:solidFill>
                <a:latin typeface="Segoe UI"/>
              </a:rPr>
              <a:t>Architecture</a:t>
            </a:r>
          </a:p>
        </p:txBody>
      </p:sp>
      <p:pic>
        <p:nvPicPr>
          <p:cNvPr id="3" name="Picture 2" descr="HridayTwin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11064240" cy="591553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5304B"/>
                </a:solidFill>
                <a:latin typeface="Segoe UI"/>
              </a:rPr>
              <a:t>A hybrid twin: machine learning for accuracy, physiology for what-if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C8F"/>
                </a:solidFill>
                <a:latin typeface="Segoe UI"/>
              </a:rPr>
              <a:t>Neither half alone is a digital twin. Together they predict and simulate.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920240"/>
            <a:ext cx="5394960" cy="4206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0574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5304B"/>
                </a:solidFill>
                <a:latin typeface="Segoe UI"/>
              </a:rPr>
              <a:t>Risk engine (ML)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606040"/>
            <a:ext cx="5029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3A5068"/>
                </a:solidFill>
                <a:latin typeface="Segoe UI"/>
              </a:rPr>
              <a:t>•  71 strictly causal features every 6 h: uses only data before the prediction time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3A5068"/>
                </a:solidFill>
                <a:latin typeface="Segoe UI"/>
              </a:rPr>
              <a:t>•  LightGBM with 36 clinical monotonicity constraints (for example, more doses taken can never raise risk)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3A5068"/>
                </a:solidFill>
                <a:latin typeface="Segoe UI"/>
              </a:rPr>
              <a:t>•  Platt-calibrated probability; TreeSHAP explanations grouped into clinical drivers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3A5068"/>
                </a:solidFill>
                <a:latin typeface="Segoe UI"/>
              </a:rPr>
              <a:t>•  Patient-level train / validation / test split (240 / 60 / 100)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920240"/>
            <a:ext cx="5394960" cy="4206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09E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20574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09E9A"/>
                </a:solidFill>
                <a:latin typeface="Segoe UI"/>
              </a:rPr>
              <a:t>Mechanistic twin (physiology)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60604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5304B"/>
                </a:solidFill>
                <a:latin typeface="Segoe UI"/>
              </a:rPr>
              <a:t>SBP = θ₀ + θ_stress·stress + θ_sleep·sleep debt + θ_drug·drug level + θ_salt·salt load + θ_am·morning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34290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3A5068"/>
                </a:solidFill>
                <a:latin typeface="Segoe UI"/>
              </a:rPr>
              <a:t>•  Bayesian calibration on each patient's own cuff readings, shrunk to a population prior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3A5068"/>
                </a:solidFill>
                <a:latin typeface="Segoe UI"/>
              </a:rPr>
              <a:t>•  Personal sensitivities with uncertainty, and a phenotype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3A5068"/>
                </a:solidFill>
                <a:latin typeface="Segoe UI"/>
              </a:rPr>
              <a:t>•  What-if: the scenario changes physiology, the twin moves BP, the ML re-scores risk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3A5068"/>
                </a:solidFill>
                <a:latin typeface="Segoe UI"/>
              </a:rPr>
              <a:t>•  24-hour BP projection with an 80% band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5304B"/>
                </a:solidFill>
                <a:latin typeface="Segoe UI"/>
              </a:rPr>
              <a:t>Results on 100 patients the model never saw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C8F"/>
                </a:solidFill>
                <a:latin typeface="Segoe UI"/>
              </a:rPr>
              <a:t>83,600 prediction points. Every number below is reproducible with one command.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265176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938528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5304B"/>
                </a:solidFill>
                <a:latin typeface="Segoe UI"/>
              </a:rPr>
              <a:t>0.920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78608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6B7C8F"/>
                </a:solidFill>
                <a:latin typeface="Segoe UI"/>
              </a:rPr>
              <a:t>AUROC, surge in the next 24 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828800"/>
            <a:ext cx="265176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938528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009E9A"/>
                </a:solidFill>
                <a:latin typeface="Segoe UI"/>
              </a:rPr>
              <a:t>79%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578608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6B7C8F"/>
                </a:solidFill>
                <a:latin typeface="Segoe UI"/>
              </a:rPr>
              <a:t>of surges flagged in advance (risk ≥ 30%)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265176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938528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009E9A"/>
                </a:solidFill>
                <a:latin typeface="Segoe UI"/>
              </a:rPr>
              <a:t>19 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578608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6B7C8F"/>
                </a:solidFill>
                <a:latin typeface="Segoe UI"/>
              </a:rPr>
              <a:t>median warning before onset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52560" y="1828800"/>
            <a:ext cx="256032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40" y="1938528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5304B"/>
                </a:solidFill>
                <a:latin typeface="Segoe UI"/>
              </a:rPr>
              <a:t>0.067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2578608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6B7C8F"/>
                </a:solidFill>
                <a:latin typeface="Segoe UI"/>
              </a:rPr>
              <a:t>Brier score (well calibrated)</a:t>
            </a:r>
          </a:p>
        </p:txBody>
      </p:sp>
      <p:pic>
        <p:nvPicPr>
          <p:cNvPr id="16" name="Picture 15" descr="perform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429000"/>
            <a:ext cx="11064240" cy="324551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5304B"/>
                </a:solidFill>
                <a:latin typeface="Segoe UI"/>
              </a:rPr>
              <a:t>Fusion matters: every stream adds signal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C8F"/>
                </a:solidFill>
                <a:latin typeface="Segoe UI"/>
              </a:rPr>
              <a:t>Same model, same patients, different inputs.</a:t>
            </a:r>
          </a:p>
        </p:txBody>
      </p:sp>
      <p:pic>
        <p:nvPicPr>
          <p:cNvPr id="4" name="Picture 3" descr="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6949440" cy="32430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0" y="201168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3A5068"/>
                </a:solidFill>
                <a:latin typeface="Segoe UI"/>
              </a:rPr>
              <a:t>•  Fusion 0.920 vs home cuff alone 0.886 vs today's rule of thumb 0.850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3A5068"/>
                </a:solidFill>
                <a:latin typeface="Segoe UI"/>
              </a:rPr>
              <a:t>•  EHR alone (0.80) knows who is at risk; streams know when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3A5068"/>
                </a:solidFill>
                <a:latin typeface="Segoe UI"/>
              </a:rPr>
              <a:t>•  Wearables + MyZenn alone reach 0.78 with no BP cuff at all: useful for the many patients who rarely measure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5304B"/>
                </a:solidFill>
                <a:latin typeface="Segoe UI"/>
              </a:rPr>
              <a:t>The twin learns each patient's real physiology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C8F"/>
                </a:solidFill>
                <a:latin typeface="Segoe UI"/>
              </a:rPr>
              <a:t>Every simulated patient has hidden sensitivities. The twin sees only cuff readings and wearables.</a:t>
            </a:r>
          </a:p>
        </p:txBody>
      </p:sp>
      <p:pic>
        <p:nvPicPr>
          <p:cNvPr id="4" name="Picture 3" descr="twin_vali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5295207" cy="4480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35040" y="1920240"/>
            <a:ext cx="5669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3A5068"/>
                </a:solidFill>
                <a:latin typeface="Segoe UI"/>
              </a:rPr>
              <a:t>•  Stress sensitivity recovered with Spearman ρ = 0.76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3A5068"/>
                </a:solidFill>
                <a:latin typeface="Segoe UI"/>
              </a:rPr>
              <a:t>•  Medication effect ρ = 0.59; salt ρ = 0.47; sleep ρ = 0.45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3A5068"/>
                </a:solidFill>
                <a:latin typeface="Segoe UI"/>
              </a:rPr>
              <a:t>•  True main driver is in the twin's top two for 84% of patients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3A5068"/>
                </a:solidFill>
                <a:latin typeface="Segoe UI"/>
              </a:rPr>
              <a:t>•  This is what makes the what-if simulator personal rather than generic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3A5068"/>
                </a:solidFill>
                <a:latin typeface="Segoe UI"/>
              </a:rPr>
              <a:t>•  Honest limit: single-driver phenotype accuracy is close to the majority baseline; we report the top-two view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5304B"/>
                </a:solidFill>
                <a:latin typeface="Segoe UI"/>
              </a:rPr>
              <a:t>The clinician console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C8F"/>
                </a:solidFill>
                <a:latin typeface="Segoe UI"/>
              </a:rPr>
              <a:t>Triage the panel, open the virtual patient, understand, simulate, act.</a:t>
            </a:r>
          </a:p>
        </p:txBody>
      </p:sp>
      <p:pic>
        <p:nvPicPr>
          <p:cNvPr id="4" name="Picture 3" descr="conso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45920"/>
            <a:ext cx="7680960" cy="4800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0" y="1737360"/>
            <a:ext cx="3383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3A5068"/>
                </a:solidFill>
                <a:latin typeface="Segoe UI"/>
              </a:rPr>
              <a:t>•  Roster ranked by 24 h surge risk with phenotype badges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3A5068"/>
                </a:solidFill>
                <a:latin typeface="Segoe UI"/>
              </a:rPr>
              <a:t>•  Blood pressure twin: cuff history flowing into the projected next 24 h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3A5068"/>
                </a:solidFill>
                <a:latin typeface="Segoe UI"/>
              </a:rPr>
              <a:t>•  Risk dial and today's snapshot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3A5068"/>
                </a:solidFill>
                <a:latin typeface="Segoe UI"/>
              </a:rPr>
              <a:t>•  Why this risk: driver bars, top signals, personal sensitivities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3A5068"/>
                </a:solidFill>
                <a:latin typeface="Segoe UI"/>
              </a:rPr>
              <a:t>•  Twin clock: replay the past two weeks and watch alerts fire before surges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3A5068"/>
                </a:solidFill>
                <a:latin typeface="Segoe UI"/>
              </a:rPr>
              <a:t>•  Live monitor: real-time stream, webcam heart rate, Bluetooth strap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5304B"/>
                </a:solidFill>
                <a:latin typeface="Segoe UI"/>
              </a:rPr>
              <a:t>Real-time data flows into the twin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C8F"/>
                </a:solidFill>
                <a:latin typeface="Segoe UI"/>
              </a:rPr>
              <a:t>Three live sources, one twin. Every reading is stored; risk updates in seconds.</a:t>
            </a:r>
          </a:p>
        </p:txBody>
      </p:sp>
      <p:pic>
        <p:nvPicPr>
          <p:cNvPr id="4" name="Picture 3" descr="live_moni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45920"/>
            <a:ext cx="7680960" cy="4800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0" y="17373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3A5068"/>
                </a:solidFill>
                <a:latin typeface="Segoe UI"/>
              </a:rPr>
              <a:t>•  Streaming replay over WebSocket: one hour of wearable, cuff and app data per tick; the twin re-scores every tick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3A5068"/>
                </a:solidFill>
                <a:latin typeface="Segoe UI"/>
              </a:rPr>
              <a:t>•  Alerts fire with drivers and the twin's recommended protocol, while the true BP (dotted, never seen by the model) is still below 160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3A5068"/>
                </a:solidFill>
                <a:latin typeface="Segoe UI"/>
              </a:rPr>
              <a:t>•  Webcam heart rate (rPPG, POS method) runs in the browser: no wearable, video never leaves the device; within 3 bpm in tests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3A5068"/>
                </a:solidFill>
                <a:latin typeface="Segoe UI"/>
              </a:rPr>
              <a:t>•  Bluetooth strap gives true beat-to-beat HRV (MyZenn MyPulse hook)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3A5068"/>
                </a:solidFill>
                <a:latin typeface="Segoe UI"/>
              </a:rPr>
              <a:t>•  All live readings persist in SQLite with source and signal quality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5304B"/>
                </a:solidFill>
                <a:latin typeface="Segoe UI"/>
              </a:rPr>
              <a:t>What-if, then act: the twin picks the intervention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C8F"/>
                </a:solidFill>
                <a:latin typeface="Segoe UI"/>
              </a:rPr>
              <a:t>Example: Sunita Patel (49F, Mumbai), adherence-dependent.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74519"/>
            <a:ext cx="548640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01168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5304B"/>
                </a:solidFill>
                <a:latin typeface="Segoe UI"/>
              </a:rPr>
              <a:t>Simulated on this patient's twin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560320"/>
            <a:ext cx="51206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3A5068"/>
                </a:solidFill>
                <a:latin typeface="Segoe UI"/>
              </a:rPr>
              <a:t>•  Adherence rescue (Smart pillbox + reminders): risk 64% → 17%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3A5068"/>
                </a:solidFill>
                <a:latin typeface="Segoe UI"/>
              </a:rPr>
              <a:t>•  Sleep wind-down (MyBody + MyPeace): risk 64% → 51%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3A5068"/>
                </a:solidFill>
                <a:latin typeface="Segoe UI"/>
              </a:rPr>
              <a:t>•  Slow-breathing protocol (MyBreath): risk 64% → 52%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3A5068"/>
                </a:solidFill>
                <a:latin typeface="Segoe UI"/>
              </a:rPr>
              <a:t>•  Low-salt coaching (MyZenn diet coach): risk 64% → 58%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3A5068"/>
                </a:solidFill>
                <a:latin typeface="Segoe UI"/>
              </a:rPr>
              <a:t>•  Active recovery (MyYoga): no benefit predicted for this patient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074920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09E9A"/>
                </a:solidFill>
                <a:latin typeface="Segoe UI"/>
              </a:rPr>
              <a:t>Combined (MyBreath 20 min + 1 h more sleep + every dose): 64% → 6%, projected peak 167 → 147 mmHg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874519"/>
            <a:ext cx="5303520" cy="4297680"/>
          </a:xfrm>
          <a:prstGeom prst="roundRect">
            <a:avLst>
              <a:gd name="adj" fmla="val 8000"/>
            </a:avLst>
          </a:prstGeom>
          <a:solidFill>
            <a:srgbClr val="DF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201168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5304B"/>
                </a:solidFill>
                <a:latin typeface="Segoe UI"/>
              </a:rPr>
              <a:t>MySentinel learns what works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560320"/>
            <a:ext cx="49377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3A5068"/>
                </a:solidFill>
                <a:latin typeface="Segoe UI"/>
              </a:rPr>
              <a:t>•  LinUCB contextual bandit, ported from MyZenn's MyCompass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3A5068"/>
                </a:solidFill>
                <a:latin typeface="Segoe UI"/>
              </a:rPr>
              <a:t>•  Pre-trained in silico on 1,500 twin cases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3A5068"/>
                </a:solidFill>
                <a:latin typeface="Segoe UI"/>
              </a:rPr>
              <a:t>•  Average risk cut: 16 pts learned vs 9 pts random (best possible 18)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3A5068"/>
                </a:solidFill>
                <a:latin typeface="Segoe UI"/>
              </a:rPr>
              <a:t>•  Policy tiers: crisis → MySafe call; high → clinician alert + protocol; medium → patient nudge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3A5068"/>
                </a:solidFill>
                <a:latin typeface="Segoe UI"/>
              </a:rPr>
              <a:t>•  Keeps learning from real outcomes after deployment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5304B"/>
                </a:solidFill>
                <a:latin typeface="Segoe UI"/>
              </a:rPr>
              <a:t>Built to be trusted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C8F"/>
                </a:solidFill>
                <a:latin typeface="Segoe UI"/>
              </a:rPr>
              <a:t>Privacy, safety and clinical sense are part of the design, not an afterthought.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74519"/>
            <a:ext cx="356616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01167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09E9A"/>
                </a:solidFill>
                <a:latin typeface="Segoe UI"/>
              </a:rPr>
              <a:t>Privacy (DPDP)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14600"/>
            <a:ext cx="3246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3A5068"/>
                </a:solidFill>
                <a:latin typeface="Segoe UI"/>
              </a:rPr>
              <a:t>Synthetic training data. In production, MyZenn's edge model keeps raw journal and mood data on the phone; only derived scores sync.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79" y="1874519"/>
            <a:ext cx="356616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59" y="201167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09E9A"/>
                </a:solidFill>
                <a:latin typeface="Segoe UI"/>
              </a:rPr>
              <a:t>Clinician in the loop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59" y="2514600"/>
            <a:ext cx="3246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3A5068"/>
                </a:solidFill>
                <a:latin typeface="Segoe UI"/>
              </a:rPr>
              <a:t>The twin recommends; the doctor prescribes. Every action is logged.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19" y="1874519"/>
            <a:ext cx="356616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9" y="201167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09E9A"/>
                </a:solidFill>
                <a:latin typeface="Segoe UI"/>
              </a:rPr>
              <a:t>Clinically constrained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9" y="2514600"/>
            <a:ext cx="3246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3A5068"/>
                </a:solidFill>
                <a:latin typeface="Segoe UI"/>
              </a:rPr>
              <a:t>36 monotonicity rules and physiological sign constraints; tested automatically (no future leakage, adherence never raises risk).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114800"/>
            <a:ext cx="356616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2519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09E9A"/>
                </a:solidFill>
                <a:latin typeface="Segoe UI"/>
              </a:rPr>
              <a:t>Safety net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754880"/>
            <a:ext cx="3246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3A5068"/>
                </a:solidFill>
                <a:latin typeface="Segoe UI"/>
              </a:rPr>
              <a:t>Crisis-range readings trigger MySafe escalation. Notifications never reveal health details on a lock screen.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79" y="4114800"/>
            <a:ext cx="356616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59" y="42519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09E9A"/>
                </a:solidFill>
                <a:latin typeface="Segoe UI"/>
              </a:rPr>
              <a:t>Interoperable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59" y="4754880"/>
            <a:ext cx="3246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3A5068"/>
                </a:solidFill>
                <a:latin typeface="Segoe UI"/>
              </a:rPr>
              <a:t>Synthea / FHIR-style EHR with SNOMED-CT and LOINC; ready for ABDM health records.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19" y="4114800"/>
            <a:ext cx="356616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599" y="42519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09E9A"/>
                </a:solidFill>
                <a:latin typeface="Segoe UI"/>
              </a:rPr>
              <a:t>Honest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599" y="4754880"/>
            <a:ext cx="3246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3A5068"/>
                </a:solidFill>
                <a:latin typeface="Segoe UI"/>
              </a:rPr>
              <a:t>Research prototype, not a medical device. Clinical validation is the next step.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5304B"/>
                </a:solidFill>
                <a:latin typeface="Segoe UI"/>
              </a:rPr>
              <a:t>From prototype to patients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C8F"/>
                </a:solidFill>
                <a:latin typeface="Segoe UI"/>
              </a:rPr>
              <a:t>MyZenn is live today; HridayTwin is the bridge to cardiometabolic care.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920240"/>
            <a:ext cx="2651760" cy="2651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09E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0574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5304B"/>
                </a:solidFill>
                <a:latin typeface="Segoe UI"/>
              </a:rPr>
              <a:t>Now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2331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3A5068"/>
                </a:solidFill>
                <a:latin typeface="Segoe UI"/>
              </a:rPr>
              <a:t>Working prototype: data simulator, hybrid twin, clinician console, MyZenn hooks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920240"/>
            <a:ext cx="2651760" cy="2651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20574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5304B"/>
                </a:solidFill>
                <a:latin typeface="Segoe UI"/>
              </a:rPr>
              <a:t>3 months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651760"/>
            <a:ext cx="2331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3A5068"/>
                </a:solidFill>
                <a:latin typeface="Segoe UI"/>
              </a:rPr>
              <a:t>Retrain on MIMIC-IV and open wearable datasets; pilot design with a Bengaluru hospital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920240"/>
            <a:ext cx="2651760" cy="2651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0574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5304B"/>
                </a:solidFill>
                <a:latin typeface="Segoe UI"/>
              </a:rPr>
              <a:t>6 months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651760"/>
            <a:ext cx="2331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3A5068"/>
                </a:solidFill>
                <a:latin typeface="Segoe UI"/>
              </a:rPr>
              <a:t>Prospective pilot: 200 patients with ambulatory BP as ground truth; measure surges averted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52560" y="1920240"/>
            <a:ext cx="2651760" cy="2651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40" y="20574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5304B"/>
                </a:solidFill>
                <a:latin typeface="Segoe UI"/>
              </a:rPr>
              <a:t>12 months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2651760"/>
            <a:ext cx="2331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3A5068"/>
                </a:solidFill>
                <a:latin typeface="Segoe UI"/>
              </a:rPr>
              <a:t>CDSCO software-as-medical-device pathway; ABDM integration; insurer and clinic partnerships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89204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3A5068"/>
                </a:solidFill>
                <a:latin typeface="Segoe UI"/>
              </a:rPr>
              <a:t>•  Impact metric: surges predicted and prevented per 1,000 patient-months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3A5068"/>
                </a:solidFill>
                <a:latin typeface="Segoe UI"/>
              </a:rPr>
              <a:t>•  Model: B2B2C through clinics, corporate wellness and insurers; patients use MyZenn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3A5068"/>
                </a:solidFill>
                <a:latin typeface="Segoe UI"/>
              </a:rPr>
              <a:t>•  Extends naturally to diabetes (glucose twin) using the same engine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6000" b="1">
                <a:solidFill>
                  <a:srgbClr val="15304B"/>
                </a:solidFill>
                <a:latin typeface="Segoe UI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017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3A5068"/>
                </a:solidFill>
                <a:latin typeface="Segoe UI"/>
              </a:rPr>
              <a:t>HridayTwin: predict the surge, explain it, simulate the fix, act before it happens.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06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B7C8F"/>
                </a:solidFill>
                <a:latin typeface="Segoe UI"/>
              </a:rPr>
              <a:t>Team [Team name]  |  [College / incubator]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6B7C8F"/>
                </a:solidFill>
                <a:latin typeface="Segoe UI"/>
              </a:rPr>
              <a:t>Repository: [GitHub link]   |   Demo video: [YouTube link]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6B7C8F"/>
                </a:solidFill>
                <a:latin typeface="Segoe UI"/>
              </a:rPr>
              <a:t>Built on MyZenn (myzenn.com)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